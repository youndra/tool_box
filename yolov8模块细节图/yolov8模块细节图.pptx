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44168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502920"/>
            <a:ext cx="5029200" cy="8412480"/>
          </a:xfrm>
          <a:prstGeom prst="rect">
            <a:avLst/>
          </a:prstGeom>
          <a:solidFill>
            <a:srgbClr val="FFF0B5"/>
          </a:solidFill>
          <a:ln w="1016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2103120"/>
            <a:ext cx="2926080" cy="2651760"/>
          </a:xfrm>
          <a:prstGeom prst="rect">
            <a:avLst/>
          </a:prstGeom>
          <a:solidFill>
            <a:srgbClr val="FFD1AE"/>
          </a:solidFill>
          <a:ln w="1016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0" y="4800600"/>
            <a:ext cx="2926080" cy="2103120"/>
          </a:xfrm>
          <a:prstGeom prst="rect">
            <a:avLst/>
          </a:prstGeom>
          <a:solidFill>
            <a:srgbClr val="FFD1AE"/>
          </a:solidFill>
          <a:ln w="1016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0" y="2103120"/>
            <a:ext cx="2651760" cy="4800600"/>
          </a:xfrm>
          <a:prstGeom prst="rect">
            <a:avLst/>
          </a:prstGeom>
          <a:solidFill>
            <a:srgbClr val="63AFFF"/>
          </a:solidFill>
          <a:ln w="1016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2103120"/>
            <a:ext cx="2286000" cy="4800600"/>
          </a:xfrm>
          <a:prstGeom prst="rect">
            <a:avLst/>
          </a:prstGeom>
          <a:solidFill>
            <a:srgbClr val="AFE6FF"/>
          </a:solidFill>
          <a:ln w="1016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0" y="7040880"/>
            <a:ext cx="8092440" cy="1828800"/>
          </a:xfrm>
          <a:prstGeom prst="rect">
            <a:avLst/>
          </a:prstGeom>
          <a:solidFill>
            <a:srgbClr val="E9E78C"/>
          </a:solidFill>
          <a:ln w="1016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12280" y="4297680"/>
            <a:ext cx="256032" cy="256032"/>
          </a:xfrm>
          <a:prstGeom prst="ellipse">
            <a:avLst/>
          </a:prstGeom>
          <a:solidFill>
            <a:srgbClr val="F2C7D4"/>
          </a:solidFill>
          <a:ln w="889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  <a:latin typeface="Times New Roman"/>
              </a:rPr>
              <a:t>+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685800"/>
            <a:ext cx="0" cy="457200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337560" y="1965960"/>
            <a:ext cx="0" cy="612648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337560" y="2926080"/>
            <a:ext cx="0" cy="731520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337560" y="4370832"/>
            <a:ext cx="0" cy="749808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337560" y="5833872"/>
            <a:ext cx="0" cy="795528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37560" y="6976872"/>
            <a:ext cx="0" cy="338328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337560" y="8138160"/>
            <a:ext cx="0" cy="685800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11480" y="2743200"/>
            <a:ext cx="0" cy="406908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1480" y="2743200"/>
            <a:ext cx="128016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" y="3246120"/>
            <a:ext cx="0" cy="356616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" y="3246120"/>
            <a:ext cx="242316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17320" y="4069080"/>
            <a:ext cx="0" cy="274320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17320" y="4069080"/>
            <a:ext cx="27432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1480" y="6812280"/>
            <a:ext cx="402336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20840" y="2468880"/>
            <a:ext cx="0" cy="41148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20840" y="3337560"/>
            <a:ext cx="0" cy="36576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720840" y="4160520"/>
            <a:ext cx="0" cy="13716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49440" y="4553712"/>
            <a:ext cx="0" cy="201168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486400" y="4434840"/>
            <a:ext cx="123444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486400" y="2514600"/>
            <a:ext cx="0" cy="192024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86400" y="2514600"/>
            <a:ext cx="123444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20840" y="5120640"/>
            <a:ext cx="0" cy="41148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720840" y="5925312"/>
            <a:ext cx="0" cy="36576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46920" y="2514600"/>
            <a:ext cx="0" cy="36576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646920" y="3246120"/>
            <a:ext cx="0" cy="45720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46920" y="3977639"/>
            <a:ext cx="0" cy="457201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646920" y="4709160"/>
            <a:ext cx="0" cy="45720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646920" y="5440680"/>
            <a:ext cx="0" cy="45720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646920" y="6172200"/>
            <a:ext cx="0" cy="45720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646920" y="3611880"/>
            <a:ext cx="118872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46920" y="4434840"/>
            <a:ext cx="118872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646920" y="5257800"/>
            <a:ext cx="118872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835640" y="3611880"/>
            <a:ext cx="0" cy="219456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9646920" y="5806440"/>
            <a:ext cx="118872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252960" y="2743200"/>
            <a:ext cx="0" cy="59436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2252960" y="3794760"/>
            <a:ext cx="0" cy="86868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252960" y="5120640"/>
            <a:ext cx="0" cy="86868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2252960" y="6446520"/>
            <a:ext cx="0" cy="41148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035040" y="7726679"/>
            <a:ext cx="0" cy="45720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035040" y="8412480"/>
            <a:ext cx="132588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360920" y="7726679"/>
            <a:ext cx="0" cy="45720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549640" y="7726679"/>
            <a:ext cx="0" cy="45720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549640" y="8412480"/>
            <a:ext cx="132588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875520" y="7726679"/>
            <a:ext cx="0" cy="45720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835640" y="7726679"/>
            <a:ext cx="0" cy="45720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0835640" y="8412480"/>
            <a:ext cx="96012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795760" y="7726679"/>
            <a:ext cx="0" cy="45720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835640" y="8229600"/>
            <a:ext cx="96012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795760" y="8229600"/>
            <a:ext cx="731520" cy="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2527280" y="7726679"/>
            <a:ext cx="0" cy="457200"/>
          </a:xfrm>
          <a:prstGeom prst="line">
            <a:avLst/>
          </a:prstGeom>
          <a:ln w="1016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148840" y="1005840"/>
            <a:ext cx="2286000" cy="868680"/>
          </a:xfrm>
          <a:prstGeom prst="roundRect">
            <a:avLst/>
          </a:prstGeom>
          <a:solidFill>
            <a:srgbClr val="7FDB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Conv
k=1,s=1,p=0,
c=c_out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148840" y="2514600"/>
            <a:ext cx="2286000" cy="347472"/>
          </a:xfrm>
          <a:prstGeom prst="roundRect">
            <a:avLst/>
          </a:prstGeom>
          <a:solidFill>
            <a:srgbClr val="CFEFA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0">
                <a:solidFill>
                  <a:srgbClr val="1A1A1A"/>
                </a:solidFill>
                <a:latin typeface="Times New Roman"/>
              </a:rPr>
              <a:t>Split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48840" y="3657600"/>
            <a:ext cx="2286000" cy="731520"/>
          </a:xfrm>
          <a:prstGeom prst="roundRect">
            <a:avLst/>
          </a:prstGeom>
          <a:solidFill>
            <a:srgbClr val="FFD1AE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Bottleneck
shortcut=?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148840" y="5120640"/>
            <a:ext cx="2286000" cy="731520"/>
          </a:xfrm>
          <a:prstGeom prst="roundRect">
            <a:avLst/>
          </a:prstGeom>
          <a:solidFill>
            <a:srgbClr val="FFD1AE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Bottleneck
shortcut=?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148840" y="6629400"/>
            <a:ext cx="2286000" cy="347472"/>
          </a:xfrm>
          <a:prstGeom prst="roundRect">
            <a:avLst/>
          </a:prstGeom>
          <a:solidFill>
            <a:srgbClr val="FFD247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0">
                <a:solidFill>
                  <a:srgbClr val="1A1A1A"/>
                </a:solidFill>
                <a:latin typeface="Times New Roman"/>
              </a:rPr>
              <a:t>Concat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148840" y="7315200"/>
            <a:ext cx="2286000" cy="868680"/>
          </a:xfrm>
          <a:prstGeom prst="roundRect">
            <a:avLst/>
          </a:prstGeom>
          <a:solidFill>
            <a:srgbClr val="7FDB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Conv
k=1,s=1,p=0,
c=c_out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03520" y="457200"/>
            <a:ext cx="777240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model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80760" y="457200"/>
            <a:ext cx="3200400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d(depth_multiple)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81160" y="457200"/>
            <a:ext cx="2880360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w(width_multiple)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161520" y="457200"/>
            <a:ext cx="1234440" cy="256032"/>
          </a:xfrm>
          <a:prstGeom prst="rect">
            <a:avLst/>
          </a:prstGeom>
          <a:solidFill>
            <a:srgbClr val="FFFF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r(ratio)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03520" y="713232"/>
            <a:ext cx="777240" cy="256032"/>
          </a:xfrm>
          <a:prstGeom prst="rect">
            <a:avLst/>
          </a:prstGeom>
          <a:solidFill>
            <a:srgbClr val="D9E0EA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713232"/>
            <a:ext cx="3200400" cy="256032"/>
          </a:xfrm>
          <a:prstGeom prst="rect">
            <a:avLst/>
          </a:prstGeom>
          <a:solidFill>
            <a:srgbClr val="D9E0EA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0.33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81160" y="713232"/>
            <a:ext cx="2880360" cy="256032"/>
          </a:xfrm>
          <a:prstGeom prst="rect">
            <a:avLst/>
          </a:prstGeom>
          <a:solidFill>
            <a:srgbClr val="D9E0EA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0.25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161520" y="713232"/>
            <a:ext cx="1234440" cy="256032"/>
          </a:xfrm>
          <a:prstGeom prst="rect">
            <a:avLst/>
          </a:prstGeom>
          <a:solidFill>
            <a:srgbClr val="D9E0EA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2.0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03520" y="969264"/>
            <a:ext cx="777240" cy="256032"/>
          </a:xfrm>
          <a:prstGeom prst="rect">
            <a:avLst/>
          </a:prstGeom>
          <a:solidFill>
            <a:srgbClr val="EDF1F5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80760" y="969264"/>
            <a:ext cx="3200400" cy="256032"/>
          </a:xfrm>
          <a:prstGeom prst="rect">
            <a:avLst/>
          </a:prstGeom>
          <a:solidFill>
            <a:srgbClr val="EDF1F5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0.33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81160" y="969264"/>
            <a:ext cx="2880360" cy="256032"/>
          </a:xfrm>
          <a:prstGeom prst="rect">
            <a:avLst/>
          </a:prstGeom>
          <a:solidFill>
            <a:srgbClr val="EDF1F5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0.50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2161520" y="969264"/>
            <a:ext cx="1234440" cy="256032"/>
          </a:xfrm>
          <a:prstGeom prst="rect">
            <a:avLst/>
          </a:prstGeom>
          <a:solidFill>
            <a:srgbClr val="EDF1F5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2.0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03520" y="1225296"/>
            <a:ext cx="777240" cy="256032"/>
          </a:xfrm>
          <a:prstGeom prst="rect">
            <a:avLst/>
          </a:prstGeom>
          <a:solidFill>
            <a:srgbClr val="D9E0EA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80760" y="1225296"/>
            <a:ext cx="3200400" cy="256032"/>
          </a:xfrm>
          <a:prstGeom prst="rect">
            <a:avLst/>
          </a:prstGeom>
          <a:solidFill>
            <a:srgbClr val="D9E0EA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0.67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281160" y="1225296"/>
            <a:ext cx="2880360" cy="256032"/>
          </a:xfrm>
          <a:prstGeom prst="rect">
            <a:avLst/>
          </a:prstGeom>
          <a:solidFill>
            <a:srgbClr val="D9E0EA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0.75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2161520" y="1225296"/>
            <a:ext cx="1234440" cy="256032"/>
          </a:xfrm>
          <a:prstGeom prst="rect">
            <a:avLst/>
          </a:prstGeom>
          <a:solidFill>
            <a:srgbClr val="D9E0EA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1.5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0" y="1481328"/>
            <a:ext cx="777240" cy="256032"/>
          </a:xfrm>
          <a:prstGeom prst="rect">
            <a:avLst/>
          </a:prstGeom>
          <a:solidFill>
            <a:srgbClr val="EDF1F5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l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80760" y="1481328"/>
            <a:ext cx="3200400" cy="256032"/>
          </a:xfrm>
          <a:prstGeom prst="rect">
            <a:avLst/>
          </a:prstGeom>
          <a:solidFill>
            <a:srgbClr val="EDF1F5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1.00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81160" y="1481328"/>
            <a:ext cx="2880360" cy="256032"/>
          </a:xfrm>
          <a:prstGeom prst="rect">
            <a:avLst/>
          </a:prstGeom>
          <a:solidFill>
            <a:srgbClr val="EDF1F5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1.00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161520" y="1481328"/>
            <a:ext cx="1234440" cy="256032"/>
          </a:xfrm>
          <a:prstGeom prst="rect">
            <a:avLst/>
          </a:prstGeom>
          <a:solidFill>
            <a:srgbClr val="EDF1F5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1.0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303520" y="1737360"/>
            <a:ext cx="777240" cy="256032"/>
          </a:xfrm>
          <a:prstGeom prst="rect">
            <a:avLst/>
          </a:prstGeom>
          <a:solidFill>
            <a:srgbClr val="D9E0EA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x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0760" y="1737360"/>
            <a:ext cx="3200400" cy="256032"/>
          </a:xfrm>
          <a:prstGeom prst="rect">
            <a:avLst/>
          </a:prstGeom>
          <a:solidFill>
            <a:srgbClr val="D9E0EA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1.00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81160" y="1737360"/>
            <a:ext cx="2880360" cy="256032"/>
          </a:xfrm>
          <a:prstGeom prst="rect">
            <a:avLst/>
          </a:prstGeom>
          <a:solidFill>
            <a:srgbClr val="D9E0EA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1.25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2161520" y="1737360"/>
            <a:ext cx="1234440" cy="256032"/>
          </a:xfrm>
          <a:prstGeom prst="rect">
            <a:avLst/>
          </a:prstGeom>
          <a:solidFill>
            <a:srgbClr val="D9E0EA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0">
                <a:solidFill>
                  <a:srgbClr val="1A1A1A"/>
                </a:solidFill>
                <a:latin typeface="Times New Roman"/>
              </a:rPr>
              <a:t>1.0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760720" y="2880360"/>
            <a:ext cx="1920240" cy="566928"/>
          </a:xfrm>
          <a:prstGeom prst="roundRect">
            <a:avLst/>
          </a:prstGeom>
          <a:solidFill>
            <a:srgbClr val="7FDB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/>
              </a:rPr>
              <a:t>Conv
k=1,s=1,p=0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760720" y="3703320"/>
            <a:ext cx="1920240" cy="566928"/>
          </a:xfrm>
          <a:prstGeom prst="roundRect">
            <a:avLst/>
          </a:prstGeom>
          <a:solidFill>
            <a:srgbClr val="7FDB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/>
              </a:rPr>
              <a:t>Conv
k=1,s=1,p=1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760720" y="5394960"/>
            <a:ext cx="1920240" cy="566928"/>
          </a:xfrm>
          <a:prstGeom prst="roundRect">
            <a:avLst/>
          </a:prstGeom>
          <a:solidFill>
            <a:srgbClr val="7FDB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/>
              </a:rPr>
              <a:t>Conv
k=1,s=1,p=0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760720" y="6126480"/>
            <a:ext cx="1920240" cy="566928"/>
          </a:xfrm>
          <a:prstGeom prst="roundRect">
            <a:avLst/>
          </a:prstGeom>
          <a:solidFill>
            <a:srgbClr val="7FDB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/>
              </a:rPr>
              <a:t>Conv
k=1,s=1,p=1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641080" y="2514600"/>
            <a:ext cx="1965960" cy="566928"/>
          </a:xfrm>
          <a:prstGeom prst="roundRect">
            <a:avLst/>
          </a:prstGeom>
          <a:solidFill>
            <a:srgbClr val="7FDB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/>
              </a:rPr>
              <a:t>Conv
k=1,s=1,p=0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732520" y="3611880"/>
            <a:ext cx="1783080" cy="310896"/>
          </a:xfrm>
          <a:prstGeom prst="roundRect">
            <a:avLst/>
          </a:prstGeom>
          <a:solidFill>
            <a:srgbClr val="E7D8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>
                <a:solidFill>
                  <a:srgbClr val="1A1A1A"/>
                </a:solidFill>
                <a:latin typeface="Times New Roman"/>
              </a:rPr>
              <a:t>MaxPool2d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732520" y="4434840"/>
            <a:ext cx="1783080" cy="310896"/>
          </a:xfrm>
          <a:prstGeom prst="roundRect">
            <a:avLst/>
          </a:prstGeom>
          <a:solidFill>
            <a:srgbClr val="E7D8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>
                <a:solidFill>
                  <a:srgbClr val="1A1A1A"/>
                </a:solidFill>
                <a:latin typeface="Times New Roman"/>
              </a:rPr>
              <a:t>MaxPool2d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732520" y="5257800"/>
            <a:ext cx="1783080" cy="310896"/>
          </a:xfrm>
          <a:prstGeom prst="roundRect">
            <a:avLst/>
          </a:prstGeom>
          <a:solidFill>
            <a:srgbClr val="E7D8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>
                <a:solidFill>
                  <a:srgbClr val="1A1A1A"/>
                </a:solidFill>
                <a:latin typeface="Times New Roman"/>
              </a:rPr>
              <a:t>MaxPool2d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732520" y="5806440"/>
            <a:ext cx="1783080" cy="347472"/>
          </a:xfrm>
          <a:prstGeom prst="roundRect">
            <a:avLst/>
          </a:prstGeom>
          <a:solidFill>
            <a:srgbClr val="FFD247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0">
                <a:solidFill>
                  <a:srgbClr val="1A1A1A"/>
                </a:solidFill>
                <a:latin typeface="Times New Roman"/>
              </a:rPr>
              <a:t>Concat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641080" y="6355080"/>
            <a:ext cx="1965960" cy="566928"/>
          </a:xfrm>
          <a:prstGeom prst="roundRect">
            <a:avLst/>
          </a:prstGeom>
          <a:solidFill>
            <a:srgbClr val="7FDB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/>
              </a:rPr>
              <a:t>Conv
k=1,s=1,p=0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1384280" y="3383280"/>
            <a:ext cx="1737360" cy="713232"/>
          </a:xfrm>
          <a:prstGeom prst="roundRect">
            <a:avLst/>
          </a:prstGeom>
          <a:solidFill>
            <a:srgbClr val="FFD1AE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/>
              </a:rPr>
              <a:t>Conv2d
k, s, p, c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1384280" y="4617720"/>
            <a:ext cx="1737360" cy="475488"/>
          </a:xfrm>
          <a:prstGeom prst="roundRect">
            <a:avLst/>
          </a:prstGeom>
          <a:solidFill>
            <a:srgbClr val="D7FF96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/>
              </a:rPr>
              <a:t>BatchNorm2d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1384280" y="5852160"/>
            <a:ext cx="1737360" cy="475488"/>
          </a:xfrm>
          <a:prstGeom prst="roundRect">
            <a:avLst/>
          </a:prstGeom>
          <a:solidFill>
            <a:srgbClr val="C6FFF7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SiLU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715000" y="7543800"/>
            <a:ext cx="1280160" cy="640080"/>
          </a:xfrm>
          <a:prstGeom prst="roundRect">
            <a:avLst/>
          </a:prstGeom>
          <a:solidFill>
            <a:srgbClr val="7FDB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/>
              </a:rPr>
              <a:t>Conv
k=1,s=1,p=1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715000" y="8229600"/>
            <a:ext cx="1280160" cy="640080"/>
          </a:xfrm>
          <a:prstGeom prst="roundRect">
            <a:avLst/>
          </a:prstGeom>
          <a:solidFill>
            <a:srgbClr val="7FDB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/>
              </a:rPr>
              <a:t>Conv
k=1,s=1,p=1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183879" y="7543800"/>
            <a:ext cx="1280160" cy="640080"/>
          </a:xfrm>
          <a:prstGeom prst="roundRect">
            <a:avLst/>
          </a:prstGeom>
          <a:solidFill>
            <a:srgbClr val="7FDB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/>
              </a:rPr>
              <a:t>Conv
k=1,s=1,p=1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183879" y="8229600"/>
            <a:ext cx="1280160" cy="640080"/>
          </a:xfrm>
          <a:prstGeom prst="roundRect">
            <a:avLst/>
          </a:prstGeom>
          <a:solidFill>
            <a:srgbClr val="7FDB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/>
              </a:rPr>
              <a:t>Conv
k=1,s=1,p=1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332720" y="7543800"/>
            <a:ext cx="1737360" cy="640080"/>
          </a:xfrm>
          <a:prstGeom prst="roundRect">
            <a:avLst/>
          </a:prstGeom>
          <a:solidFill>
            <a:srgbClr val="FFD1AE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>
                <a:solidFill>
                  <a:srgbClr val="1A1A1A"/>
                </a:solidFill>
                <a:latin typeface="Times New Roman"/>
              </a:rPr>
              <a:t>Conv2d
k=1,s=1,p=0
c=4*reg_max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332720" y="8229600"/>
            <a:ext cx="1737360" cy="640080"/>
          </a:xfrm>
          <a:prstGeom prst="roundRect">
            <a:avLst/>
          </a:prstGeom>
          <a:solidFill>
            <a:srgbClr val="FFD1AE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>
                <a:solidFill>
                  <a:srgbClr val="1A1A1A"/>
                </a:solidFill>
                <a:latin typeface="Times New Roman"/>
              </a:rPr>
              <a:t>Conv2d
k=1,s=1,p=0
c=nc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2298680" y="7543800"/>
            <a:ext cx="868680" cy="640080"/>
          </a:xfrm>
          <a:prstGeom prst="roundRect">
            <a:avLst/>
          </a:prstGeom>
          <a:solidFill>
            <a:srgbClr val="DADF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/>
              </a:rPr>
              <a:t>Bbox.
Loss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2298680" y="8229600"/>
            <a:ext cx="868680" cy="640080"/>
          </a:xfrm>
          <a:prstGeom prst="roundRect">
            <a:avLst/>
          </a:prstGeom>
          <a:solidFill>
            <a:srgbClr val="DADF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0">
                <a:solidFill>
                  <a:srgbClr val="1A1A1A"/>
                </a:solidFill>
                <a:latin typeface="Times New Roman"/>
              </a:rPr>
              <a:t>Cls.
Loss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720840" y="7269480"/>
            <a:ext cx="868680" cy="2286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>
                <a:solidFill>
                  <a:srgbClr val="1A1A1A"/>
                </a:solidFill>
                <a:latin typeface="Times New Roman"/>
              </a:rPr>
              <a:t>AnchorFree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635240" y="7269480"/>
            <a:ext cx="914400" cy="2286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0">
                <a:solidFill>
                  <a:srgbClr val="1A1A1A"/>
                </a:solidFill>
                <a:latin typeface="Times New Roman"/>
              </a:rPr>
              <a:t>Assigner:TAL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3291840" y="1874519"/>
            <a:ext cx="0" cy="640081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3291840" y="2862072"/>
            <a:ext cx="0" cy="795528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3291840" y="4389120"/>
            <a:ext cx="0" cy="731520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3291840" y="5852159"/>
            <a:ext cx="0" cy="777241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3291840" y="6976872"/>
            <a:ext cx="0" cy="338328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720840" y="3447288"/>
            <a:ext cx="0" cy="256032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720840" y="5961888"/>
            <a:ext cx="0" cy="164592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624059" y="3081528"/>
            <a:ext cx="1" cy="530352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624060" y="3922776"/>
            <a:ext cx="0" cy="512064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624060" y="4745736"/>
            <a:ext cx="0" cy="512064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624060" y="5568696"/>
            <a:ext cx="0" cy="237744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9624059" y="6153912"/>
            <a:ext cx="1" cy="201168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2252959" y="4096512"/>
            <a:ext cx="0" cy="521208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2252959" y="5093208"/>
            <a:ext cx="0" cy="758952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6995160" y="7863840"/>
            <a:ext cx="1188719" cy="0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6995160" y="8549640"/>
            <a:ext cx="1188719" cy="0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464040" y="7863840"/>
            <a:ext cx="868680" cy="0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464040" y="8549640"/>
            <a:ext cx="868680" cy="0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2070080" y="7863840"/>
            <a:ext cx="228600" cy="0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12070080" y="8549640"/>
            <a:ext cx="228600" cy="0"/>
          </a:xfrm>
          <a:prstGeom prst="line">
            <a:avLst/>
          </a:prstGeom>
          <a:ln w="11430">
            <a:solidFill>
              <a:srgbClr val="2C2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0" y="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F5E8C"/>
                </a:solidFill>
                <a:latin typeface="Times New Roman"/>
              </a:rPr>
              <a:t>Details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83280" y="82296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imes New Roman"/>
              </a:rPr>
              <a:t>h x w x c_in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83280" y="196596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imes New Roman"/>
              </a:rPr>
              <a:t>h x w x c_out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11480" y="260604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imes New Roman"/>
              </a:rPr>
              <a:t>h x w x 0.5c_out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" y="310896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imes New Roman"/>
              </a:rPr>
              <a:t>h x w x 0.5c_out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417320" y="3950208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imes New Roman"/>
              </a:rPr>
              <a:t>h x w x 0.5c_out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429000" y="288036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imes New Roman"/>
              </a:rPr>
              <a:t>h x w x 0.5c_out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429000" y="443484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imes New Roman"/>
              </a:rPr>
              <a:t>h x w x 0.5c_out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429000" y="5897880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imes New Roman"/>
              </a:rPr>
              <a:t>h x w x 0.5c_out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154680" y="457200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1A1A1A"/>
                </a:solidFill>
                <a:latin typeface="Times New Roman"/>
              </a:rPr>
              <a:t>...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572000" y="448056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Times New Roman"/>
              </a:rPr>
              <a:t>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154680" y="711403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imes New Roman"/>
              </a:rPr>
              <a:t>h x w x 0.5(n+2)c_out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429000" y="832104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Times New Roman"/>
              </a:rPr>
              <a:t>h x w x c_out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28600" y="8183879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Times New Roman"/>
              </a:rPr>
              <a:t>C2f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28600" y="85496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Times New Roman"/>
              </a:rPr>
              <a:t>shortcut=?, 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440680" y="224028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  <a:latin typeface="Times New Roman"/>
              </a:rPr>
              <a:t>Bottleneck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40680" y="254203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Times New Roman"/>
              </a:rPr>
              <a:t>shortcut=True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440680" y="489204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A1A1A"/>
                </a:solidFill>
                <a:latin typeface="Times New Roman"/>
              </a:rPr>
              <a:t>Bottleneck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440680" y="519379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Times New Roman"/>
              </a:rPr>
              <a:t>shortcut=False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44000" y="22402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Times New Roman"/>
              </a:rPr>
              <a:t>SPPF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1475720" y="224028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Times New Roman"/>
              </a:rPr>
              <a:t>Conv
k, s, p, c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486400" y="71780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Times New Roman"/>
              </a:rPr>
              <a:t>Detect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